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324" r:id="rId3"/>
    <p:sldId id="325" r:id="rId4"/>
    <p:sldId id="326" r:id="rId5"/>
    <p:sldId id="327" r:id="rId6"/>
    <p:sldId id="328" r:id="rId7"/>
    <p:sldId id="329" r:id="rId8"/>
    <p:sldId id="294" r:id="rId9"/>
    <p:sldId id="321" r:id="rId10"/>
    <p:sldId id="265" r:id="rId11"/>
    <p:sldId id="273" r:id="rId12"/>
    <p:sldId id="274" r:id="rId13"/>
    <p:sldId id="323" r:id="rId14"/>
    <p:sldId id="269" r:id="rId15"/>
    <p:sldId id="276" r:id="rId16"/>
    <p:sldId id="277" r:id="rId17"/>
    <p:sldId id="28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F7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 autoAdjust="0"/>
    <p:restoredTop sz="90679" autoAdjust="0"/>
  </p:normalViewPr>
  <p:slideViewPr>
    <p:cSldViewPr>
      <p:cViewPr varScale="1">
        <p:scale>
          <a:sx n="86" d="100"/>
          <a:sy n="86" d="100"/>
        </p:scale>
        <p:origin x="653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09/12/2025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556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Programming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Using Processing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6E761F-E6A9-9565-BC08-58D64EFB6F60}"/>
              </a:ext>
            </a:extLst>
          </p:cNvPr>
          <p:cNvSpPr txBox="1"/>
          <p:nvPr/>
        </p:nvSpPr>
        <p:spPr>
          <a:xfrm>
            <a:off x="5105400" y="5974494"/>
            <a:ext cx="6206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>
                <a:solidFill>
                  <a:srgbClr val="435465"/>
                </a:solidFill>
              </a:rPr>
              <a:t>Department of Computing and Mathematics</a:t>
            </a:r>
          </a:p>
          <a:p>
            <a:r>
              <a:rPr lang="en-IE" sz="1600" dirty="0" err="1">
                <a:solidFill>
                  <a:srgbClr val="435465"/>
                </a:solidFill>
              </a:rPr>
              <a:t>setu.ie</a:t>
            </a:r>
            <a:endParaRPr lang="en-IE" sz="1600" dirty="0">
              <a:solidFill>
                <a:srgbClr val="435465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9A7038-6CD1-67ED-A9DA-393D0C7F8F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5181600"/>
            <a:ext cx="2971800" cy="1666009"/>
          </a:xfrm>
          <a:prstGeom prst="rect">
            <a:avLst/>
          </a:prstGeom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DC0AC6A1-85E5-A87A-5C92-62C44C6DC8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07C11-798D-D277-4861-0B1BCCF98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IE" dirty="0"/>
              <a:t>What </a:t>
            </a:r>
            <a:r>
              <a:rPr lang="en-IE" i="1" dirty="0"/>
              <a:t>Is</a:t>
            </a:r>
            <a:r>
              <a:rPr lang="en-IE" dirty="0"/>
              <a:t> Programming?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2118F-6A0B-4200-C0E5-7FD4DD36C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67056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Telling a computer what to do, step by step</a:t>
            </a:r>
          </a:p>
          <a:p>
            <a:pPr>
              <a:lnSpc>
                <a:spcPct val="90000"/>
              </a:lnSpc>
            </a:pPr>
            <a:r>
              <a:rPr lang="en-US" dirty="0"/>
              <a:t>Like giving instructions to a very literal friend</a:t>
            </a:r>
          </a:p>
          <a:p>
            <a:pPr>
              <a:lnSpc>
                <a:spcPct val="90000"/>
              </a:lnSpc>
            </a:pPr>
            <a:r>
              <a:rPr lang="en-US" dirty="0"/>
              <a:t>Computers are fast, powerful… but zero common sense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b="1" i="1" dirty="0"/>
              <a:t>You: </a:t>
            </a:r>
            <a:r>
              <a:rPr lang="en-US" dirty="0"/>
              <a:t>“Make tea.”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b="1" i="1" dirty="0"/>
              <a:t>Computer: </a:t>
            </a:r>
            <a:r>
              <a:rPr lang="en-US" dirty="0">
                <a:solidFill>
                  <a:srgbClr val="FF0000"/>
                </a:solidFill>
              </a:rPr>
              <a:t>Error</a:t>
            </a:r>
            <a:r>
              <a:rPr lang="en-US" dirty="0"/>
              <a:t>: no instructions for picking up kettle.”</a:t>
            </a:r>
            <a:endParaRPr lang="en-IE" dirty="0"/>
          </a:p>
        </p:txBody>
      </p:sp>
      <p:pic>
        <p:nvPicPr>
          <p:cNvPr id="1027" name="Picture 3" descr="Coffee? Tea? Me?, Cute Robot Machine ...">
            <a:extLst>
              <a:ext uri="{FF2B5EF4-FFF2-40B4-BE49-F238E27FC236}">
                <a16:creationId xmlns:a16="http://schemas.microsoft.com/office/drawing/2014/main" id="{B79338A8-8A84-483B-CC73-BDCDF40C8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50" r="-2" b="-2"/>
          <a:stretch>
            <a:fillRect/>
          </a:stretch>
        </p:blipFill>
        <p:spPr bwMode="auto">
          <a:xfrm>
            <a:off x="7086600" y="1676400"/>
            <a:ext cx="51054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829458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0D9F4C-04E5-6E30-9AE6-3E4AA29B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IE" dirty="0"/>
              <a:t>Why Learn Programming (fun reasons)?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BEB011-2AF6-63EC-6411-F70B8E0DE1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6781800" cy="4525963"/>
          </a:xfrm>
        </p:spPr>
        <p:txBody>
          <a:bodyPr>
            <a:normAutofit/>
          </a:bodyPr>
          <a:lstStyle/>
          <a:p>
            <a:r>
              <a:rPr lang="en-US" dirty="0"/>
              <a:t>Build games, apps, music generators, animations</a:t>
            </a:r>
          </a:p>
          <a:p>
            <a:r>
              <a:rPr lang="en-US" dirty="0"/>
              <a:t>Control robots, drones, LEDs, VR worlds</a:t>
            </a:r>
          </a:p>
          <a:p>
            <a:r>
              <a:rPr lang="en-US" dirty="0"/>
              <a:t>Make your own cheats/tools/mods</a:t>
            </a:r>
          </a:p>
          <a:p>
            <a:r>
              <a:rPr lang="en-US" dirty="0"/>
              <a:t>Create stuff nobody has ever made before</a:t>
            </a:r>
          </a:p>
          <a:p>
            <a:r>
              <a:rPr lang="en-US" dirty="0"/>
              <a:t>It’s like magic, but real</a:t>
            </a:r>
            <a:endParaRPr lang="en-IE" dirty="0"/>
          </a:p>
        </p:txBody>
      </p:sp>
      <p:pic>
        <p:nvPicPr>
          <p:cNvPr id="2050" name="Picture 2" descr="Robot Controller Stock Illustrations ...">
            <a:extLst>
              <a:ext uri="{FF2B5EF4-FFF2-40B4-BE49-F238E27FC236}">
                <a16:creationId xmlns:a16="http://schemas.microsoft.com/office/drawing/2014/main" id="{E22DBBC7-5C0B-9A91-5DE4-0BD218696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0" r="-2" b="9378"/>
          <a:stretch>
            <a:fillRect/>
          </a:stretch>
        </p:blipFill>
        <p:spPr bwMode="auto">
          <a:xfrm>
            <a:off x="7696200" y="2438400"/>
            <a:ext cx="4024907" cy="3382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49638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FB0C9-0462-DDF2-C53D-9E989BD77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IE" dirty="0"/>
              <a:t>Why Learn Programming(serious reasons)?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63720-6794-358B-286C-1AFD4B5FD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6433122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Every industry needs developers</a:t>
            </a:r>
          </a:p>
          <a:p>
            <a:pPr>
              <a:lnSpc>
                <a:spcPct val="90000"/>
              </a:lnSpc>
            </a:pPr>
            <a:r>
              <a:rPr lang="en-US" dirty="0"/>
              <a:t>High-paying, flexible jobs</a:t>
            </a:r>
          </a:p>
          <a:p>
            <a:pPr>
              <a:lnSpc>
                <a:spcPct val="90000"/>
              </a:lnSpc>
            </a:pPr>
            <a:r>
              <a:rPr lang="en-US" dirty="0"/>
              <a:t>Huge shortage of skilled programmers in Ireland &amp; worldwide</a:t>
            </a:r>
          </a:p>
          <a:p>
            <a:pPr>
              <a:lnSpc>
                <a:spcPct val="90000"/>
              </a:lnSpc>
            </a:pPr>
            <a:r>
              <a:rPr lang="en-US" dirty="0"/>
              <a:t>Great for problem-solving and thinking clearly</a:t>
            </a:r>
          </a:p>
          <a:p>
            <a:pPr>
              <a:lnSpc>
                <a:spcPct val="90000"/>
              </a:lnSpc>
            </a:pPr>
            <a:r>
              <a:rPr lang="en-US" dirty="0"/>
              <a:t>Opens doors to AI, cybersecurity, gaming, data science, engineering, etc.</a:t>
            </a:r>
            <a:endParaRPr lang="en-IE" dirty="0"/>
          </a:p>
        </p:txBody>
      </p:sp>
      <p:pic>
        <p:nvPicPr>
          <p:cNvPr id="3074" name="Picture 2" descr="Career Programming ...">
            <a:extLst>
              <a:ext uri="{FF2B5EF4-FFF2-40B4-BE49-F238E27FC236}">
                <a16:creationId xmlns:a16="http://schemas.microsoft.com/office/drawing/2014/main" id="{51FD2B5A-2549-A6F6-8AB7-0C2F07034E3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42722" y="2057400"/>
            <a:ext cx="4539677" cy="331413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28454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36266-EFF2-AA91-8834-1B662B098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IE" dirty="0"/>
              <a:t>Where Is Programming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43793-C279-3607-ACCC-2E2051361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69342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E" sz="2600" dirty="0"/>
              <a:t>Netflix recommendations </a:t>
            </a:r>
          </a:p>
          <a:p>
            <a:pPr>
              <a:lnSpc>
                <a:spcPct val="90000"/>
              </a:lnSpc>
            </a:pPr>
            <a:r>
              <a:rPr lang="en-IE" sz="2600" dirty="0"/>
              <a:t>Snapchat filters </a:t>
            </a:r>
          </a:p>
          <a:p>
            <a:pPr>
              <a:lnSpc>
                <a:spcPct val="90000"/>
              </a:lnSpc>
            </a:pPr>
            <a:r>
              <a:rPr lang="en-IE" sz="2600" dirty="0"/>
              <a:t>Spotify playlists </a:t>
            </a:r>
          </a:p>
          <a:p>
            <a:pPr>
              <a:lnSpc>
                <a:spcPct val="90000"/>
              </a:lnSpc>
            </a:pPr>
            <a:r>
              <a:rPr lang="en-IE" sz="2600" dirty="0"/>
              <a:t>Instagram stories </a:t>
            </a:r>
          </a:p>
          <a:p>
            <a:pPr>
              <a:lnSpc>
                <a:spcPct val="90000"/>
              </a:lnSpc>
            </a:pPr>
            <a:r>
              <a:rPr lang="en-IE" sz="2600" dirty="0"/>
              <a:t>Self-driving cars </a:t>
            </a:r>
          </a:p>
          <a:p>
            <a:pPr>
              <a:lnSpc>
                <a:spcPct val="90000"/>
              </a:lnSpc>
            </a:pPr>
            <a:r>
              <a:rPr lang="en-IE" sz="2600" dirty="0"/>
              <a:t>Games (Fortnite, FIFA, Minecraft) </a:t>
            </a:r>
          </a:p>
          <a:p>
            <a:pPr>
              <a:lnSpc>
                <a:spcPct val="90000"/>
              </a:lnSpc>
            </a:pPr>
            <a:r>
              <a:rPr lang="en-IE" sz="2600" dirty="0"/>
              <a:t>Even toaster ovens &amp; traffic lights</a:t>
            </a:r>
          </a:p>
        </p:txBody>
      </p:sp>
      <p:pic>
        <p:nvPicPr>
          <p:cNvPr id="4099" name="Picture 3" descr="Game Calculator Coding Programming Gif">
            <a:extLst>
              <a:ext uri="{FF2B5EF4-FFF2-40B4-BE49-F238E27FC236}">
                <a16:creationId xmlns:a16="http://schemas.microsoft.com/office/drawing/2014/main" id="{5F187ACE-11D2-A049-F84F-45B5CB14B67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43800" y="1828800"/>
            <a:ext cx="4284154" cy="239912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75051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C768A-3EBB-CF10-D866-2DC93D2AA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Programming Changes the World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E5477-B16D-5E7E-BBF2-404CCB21F9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8763000" cy="4525963"/>
          </a:xfrm>
        </p:spPr>
        <p:txBody>
          <a:bodyPr/>
          <a:lstStyle/>
          <a:p>
            <a:r>
              <a:rPr lang="en-US" b="1" dirty="0"/>
              <a:t>Apps built by students -</a:t>
            </a:r>
            <a:r>
              <a:rPr lang="en-US" dirty="0"/>
              <a:t> TikTok started by college-age developers</a:t>
            </a:r>
          </a:p>
          <a:p>
            <a:r>
              <a:rPr lang="en-IE" b="1" dirty="0"/>
              <a:t>Websites and Mobile Apps - </a:t>
            </a:r>
            <a:r>
              <a:rPr lang="en-US" dirty="0"/>
              <a:t>over 1.7 billion websites on the internet</a:t>
            </a:r>
            <a:endParaRPr lang="en-IE" b="1" dirty="0"/>
          </a:p>
          <a:p>
            <a:r>
              <a:rPr lang="en-IE" b="1" dirty="0"/>
              <a:t>Digital Assistants - </a:t>
            </a:r>
            <a:r>
              <a:rPr lang="en-IE" dirty="0"/>
              <a:t>Siri, Alexa, Google Assistant</a:t>
            </a:r>
          </a:p>
          <a:p>
            <a:r>
              <a:rPr lang="en-IE" b="1" dirty="0"/>
              <a:t>Exploring Space - </a:t>
            </a:r>
            <a:r>
              <a:rPr lang="en-US" dirty="0"/>
              <a:t>Artemis program, where Python is being used to get a better idea of the moon</a:t>
            </a:r>
          </a:p>
          <a:p>
            <a:r>
              <a:rPr lang="en-IE" b="1" dirty="0"/>
              <a:t>Solving Business Challenges</a:t>
            </a:r>
          </a:p>
          <a:p>
            <a:r>
              <a:rPr lang="en-IE" b="1" dirty="0"/>
              <a:t>Transportation &amp; Accommodation – </a:t>
            </a:r>
            <a:r>
              <a:rPr lang="en-IE" dirty="0"/>
              <a:t>Uber, booking.com</a:t>
            </a:r>
          </a:p>
          <a:p>
            <a:endParaRPr lang="en-IE" b="1" dirty="0"/>
          </a:p>
          <a:p>
            <a:endParaRPr lang="en-IE" b="1" dirty="0"/>
          </a:p>
          <a:p>
            <a:endParaRPr lang="en-IE" b="1" dirty="0"/>
          </a:p>
        </p:txBody>
      </p:sp>
      <p:pic>
        <p:nvPicPr>
          <p:cNvPr id="5122" name="Picture 2" descr="Coding Can Change the World: A Story ...">
            <a:extLst>
              <a:ext uri="{FF2B5EF4-FFF2-40B4-BE49-F238E27FC236}">
                <a16:creationId xmlns:a16="http://schemas.microsoft.com/office/drawing/2014/main" id="{A7FA6687-BE4A-8FB3-7D80-9745F521B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0" y="1391005"/>
            <a:ext cx="2371725" cy="48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1038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C2CF4-1E27-D63E-0F10-D430A6D5B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IE" dirty="0"/>
              <a:t>What You’ll Do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82ABF-2C63-104B-60C7-EA4ACD1D9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r>
              <a:rPr lang="en-US" b="1" dirty="0"/>
              <a:t>Today, you’ll become programmers.</a:t>
            </a:r>
          </a:p>
          <a:p>
            <a:endParaRPr lang="en-US" dirty="0"/>
          </a:p>
          <a:p>
            <a:pPr lvl="1"/>
            <a:r>
              <a:rPr lang="en-US" sz="2800" dirty="0"/>
              <a:t>Use Processing (Java)Draw shapes &amp; animations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Make something move</a:t>
            </a:r>
            <a:endParaRPr lang="en-IE" sz="2800" dirty="0"/>
          </a:p>
        </p:txBody>
      </p:sp>
      <p:pic>
        <p:nvPicPr>
          <p:cNvPr id="6146" name="Picture 2" descr="Superhero programmer fighting virtual ...">
            <a:extLst>
              <a:ext uri="{FF2B5EF4-FFF2-40B4-BE49-F238E27FC236}">
                <a16:creationId xmlns:a16="http://schemas.microsoft.com/office/drawing/2014/main" id="{A1EC27E4-A055-C0D8-E4C3-7D197167F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36" r="-2" b="1112"/>
          <a:stretch>
            <a:fillRect/>
          </a:stretch>
        </p:blipFill>
        <p:spPr bwMode="auto">
          <a:xfrm>
            <a:off x="6197600" y="1600201"/>
            <a:ext cx="53848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894535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0F8821-3EF8-BF4D-3F50-F2D467FE3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690688"/>
            <a:ext cx="4449763" cy="44497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to Processing</a:t>
            </a:r>
          </a:p>
        </p:txBody>
      </p:sp>
    </p:spTree>
    <p:extLst>
      <p:ext uri="{BB962C8B-B14F-4D97-AF65-F5344CB8AC3E}">
        <p14:creationId xmlns:p14="http://schemas.microsoft.com/office/powerpoint/2010/main" val="379983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Processing?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11277600" cy="144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2800" b="1" dirty="0"/>
              <a:t>Processing</a:t>
            </a:r>
            <a:r>
              <a:rPr lang="en-IE" sz="2800" dirty="0"/>
              <a:t> is a </a:t>
            </a:r>
          </a:p>
          <a:p>
            <a:pPr marL="0" indent="0">
              <a:buNone/>
            </a:pPr>
            <a:r>
              <a:rPr lang="en-IE" sz="2800" dirty="0"/>
              <a:t>programming language, development environment, and online community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93B7DB5-B149-4C4D-ADB9-8DD3B187B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91600" y="46038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B6C10E6-9845-42E3-8563-37CCEEDBAE64}"/>
              </a:ext>
            </a:extLst>
          </p:cNvPr>
          <p:cNvSpPr/>
          <p:nvPr/>
        </p:nvSpPr>
        <p:spPr>
          <a:xfrm>
            <a:off x="304800" y="3048000"/>
            <a:ext cx="1298695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lvl="1"/>
            <a:r>
              <a:rPr lang="en-IE" sz="2800" dirty="0"/>
              <a:t>…can be used to develop static or interactive online material </a:t>
            </a:r>
            <a:br>
              <a:rPr lang="en-IE" sz="2800" dirty="0"/>
            </a:br>
            <a:r>
              <a:rPr lang="en-IE" sz="2800" dirty="0"/>
              <a:t>and data visualisations.</a:t>
            </a:r>
          </a:p>
          <a:p>
            <a:pPr marL="400050" lvl="1"/>
            <a:endParaRPr lang="en-IE" sz="2800" dirty="0"/>
          </a:p>
          <a:p>
            <a:pPr marL="400050" lvl="1"/>
            <a:r>
              <a:rPr lang="en-IE" sz="2800" dirty="0"/>
              <a:t>…is often used by visual artists.</a:t>
            </a:r>
          </a:p>
          <a:p>
            <a:pPr marL="400050" lvl="1"/>
            <a:endParaRPr lang="en-IE" sz="2800" dirty="0"/>
          </a:p>
          <a:p>
            <a:pPr marL="400050" lvl="1"/>
            <a:r>
              <a:rPr lang="en-IE" sz="2800" dirty="0"/>
              <a:t>…produces visual and interactive representations of programming code.</a:t>
            </a: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3041990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Coordinate System in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3048000" cy="487680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E" sz="2400" dirty="0"/>
              <a:t>In Geometry, </a:t>
            </a:r>
          </a:p>
          <a:p>
            <a:pPr marL="0" indent="0" algn="ctr">
              <a:buNone/>
            </a:pPr>
            <a:r>
              <a:rPr lang="en-IE" sz="2400" dirty="0"/>
              <a:t>we use this type of </a:t>
            </a:r>
          </a:p>
          <a:p>
            <a:pPr marL="0" indent="0" algn="ctr">
              <a:buNone/>
            </a:pPr>
            <a:r>
              <a:rPr lang="en-IE" sz="2400" dirty="0"/>
              <a:t>coordinate system:</a:t>
            </a:r>
          </a:p>
          <a:p>
            <a:pPr marL="0" indent="0" algn="ctr">
              <a:buNone/>
            </a:pPr>
            <a:endParaRPr lang="en-IE" sz="2400" dirty="0"/>
          </a:p>
          <a:p>
            <a:pPr marL="0" indent="0" algn="ctr">
              <a:buNone/>
            </a:pPr>
            <a:endParaRPr lang="en-IE" sz="2400" dirty="0"/>
          </a:p>
          <a:p>
            <a:pPr marL="0" indent="0" algn="ctr">
              <a:buNone/>
            </a:pPr>
            <a:endParaRPr lang="en-IE" sz="2400" dirty="0"/>
          </a:p>
          <a:p>
            <a:pPr marL="0" indent="0" algn="ctr">
              <a:buNone/>
            </a:pPr>
            <a:endParaRPr lang="en-IE" sz="2400" dirty="0"/>
          </a:p>
          <a:p>
            <a:pPr marL="0" indent="0" algn="ctr">
              <a:buNone/>
            </a:pPr>
            <a:endParaRPr lang="en-IE" sz="2400" dirty="0"/>
          </a:p>
          <a:p>
            <a:pPr marL="0" indent="0" algn="ctr">
              <a:buNone/>
            </a:pPr>
            <a:endParaRPr lang="en-IE" sz="2400" dirty="0"/>
          </a:p>
          <a:p>
            <a:pPr marL="0" indent="0" algn="ctr">
              <a:buNone/>
            </a:pPr>
            <a:r>
              <a:rPr lang="en-IE" sz="2400" dirty="0"/>
              <a:t>point (0,0) is in the centre.</a:t>
            </a:r>
          </a:p>
        </p:txBody>
      </p:sp>
      <p:sp>
        <p:nvSpPr>
          <p:cNvPr id="5" name="AutoShape 4" descr="https://www.processing.org/tutorials/drawing/imgs/drawing-03.sv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6" name="AutoShape 6" descr="https://www.processing.org/tutorials/drawing/imgs/drawing-03.svg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7" name="AutoShape 8" descr="https://www.processing.org/tutorials/drawing/imgs/drawing-03.svg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8" name="AutoShape 10" descr="https://www.processing.org/tutorials/drawing/imgs/drawing-03.svg"/>
          <p:cNvSpPr>
            <a:spLocks noChangeAspect="1" noChangeArrowheads="1"/>
          </p:cNvSpPr>
          <p:nvPr/>
        </p:nvSpPr>
        <p:spPr bwMode="auto">
          <a:xfrm>
            <a:off x="21367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9" name="AutoShape 12" descr="https://www.processing.org/tutorials/drawing/imgs/drawing-03.svg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pic>
        <p:nvPicPr>
          <p:cNvPr id="12" name="Picture 1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55" t="45278" r="46945" b="25199"/>
          <a:stretch/>
        </p:blipFill>
        <p:spPr bwMode="auto">
          <a:xfrm>
            <a:off x="2667001" y="3174340"/>
            <a:ext cx="2185843" cy="2159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Content Placeholder 2"/>
          <p:cNvSpPr txBox="1">
            <a:spLocks/>
          </p:cNvSpPr>
          <p:nvPr/>
        </p:nvSpPr>
        <p:spPr>
          <a:xfrm>
            <a:off x="5334000" y="1600200"/>
            <a:ext cx="4953000" cy="48768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400" dirty="0"/>
              <a:t>In Computing, we use this type of coordinate system to represent the screen:</a:t>
            </a:r>
          </a:p>
          <a:p>
            <a:pPr marL="0" indent="0" algn="ctr">
              <a:buNone/>
            </a:pPr>
            <a:endParaRPr lang="en-IE" sz="2400" dirty="0"/>
          </a:p>
          <a:p>
            <a:pPr marL="0" indent="0" algn="ctr">
              <a:buNone/>
            </a:pPr>
            <a:endParaRPr lang="en-IE" sz="2400" dirty="0"/>
          </a:p>
          <a:p>
            <a:pPr marL="0" indent="0" algn="ctr">
              <a:buNone/>
            </a:pPr>
            <a:endParaRPr lang="en-IE" sz="2400" dirty="0"/>
          </a:p>
          <a:p>
            <a:pPr marL="0" indent="0" algn="ctr">
              <a:buNone/>
            </a:pPr>
            <a:endParaRPr lang="en-IE" sz="2400" dirty="0"/>
          </a:p>
          <a:p>
            <a:pPr marL="0" indent="0" algn="ctr">
              <a:buNone/>
            </a:pPr>
            <a:endParaRPr lang="en-IE" sz="2400" dirty="0"/>
          </a:p>
          <a:p>
            <a:pPr marL="0" indent="0" algn="ctr">
              <a:buNone/>
            </a:pPr>
            <a:endParaRPr lang="en-IE" sz="2400" dirty="0"/>
          </a:p>
          <a:p>
            <a:pPr marL="0" indent="0" algn="ctr">
              <a:buNone/>
            </a:pPr>
            <a:r>
              <a:rPr lang="en-IE" sz="2400" dirty="0"/>
              <a:t>point (0,0) is in the top left hand corner.  Each number is a pixel.</a:t>
            </a:r>
          </a:p>
        </p:txBody>
      </p:sp>
      <p:pic>
        <p:nvPicPr>
          <p:cNvPr id="15" name="Picture 1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15" t="39881" r="25817" b="25199"/>
          <a:stretch/>
        </p:blipFill>
        <p:spPr bwMode="auto">
          <a:xfrm>
            <a:off x="6511472" y="2822696"/>
            <a:ext cx="2598056" cy="2554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8265794" y="6488668"/>
            <a:ext cx="2367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dirty="0"/>
              <a:t>https://processing.org/</a:t>
            </a:r>
          </a:p>
        </p:txBody>
      </p:sp>
    </p:spTree>
    <p:extLst>
      <p:ext uri="{BB962C8B-B14F-4D97-AF65-F5344CB8AC3E}">
        <p14:creationId xmlns:p14="http://schemas.microsoft.com/office/powerpoint/2010/main" val="3789681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Coordinate System in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40632" y="1759528"/>
            <a:ext cx="3922568" cy="2209801"/>
          </a:xfrm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en-IE" sz="2800" dirty="0"/>
              <a:t>So how does this relate to Processing? </a:t>
            </a:r>
          </a:p>
          <a:p>
            <a:r>
              <a:rPr lang="en-IE" sz="2800" dirty="0"/>
              <a:t>When you open Processing and click on the run button, a display window pops up.  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9" t="9944" r="69486" b="68276"/>
          <a:stretch/>
        </p:blipFill>
        <p:spPr bwMode="auto">
          <a:xfrm>
            <a:off x="7543800" y="3827161"/>
            <a:ext cx="2133600" cy="2503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599" y="2126732"/>
            <a:ext cx="4263139" cy="3685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63581" y="1349514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b="1" dirty="0">
                <a:solidFill>
                  <a:srgbClr val="FF0000"/>
                </a:solidFill>
              </a:rPr>
              <a:t>Run button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6690" y="6330875"/>
            <a:ext cx="2521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b="1" dirty="0">
                <a:solidFill>
                  <a:srgbClr val="FF0000"/>
                </a:solidFill>
              </a:rPr>
              <a:t>Display window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012598" y="1905000"/>
            <a:ext cx="349602" cy="68580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254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Coordinate System in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2202378"/>
            <a:ext cx="6096001" cy="3389416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IE" sz="2800" dirty="0"/>
              <a:t>The display window is where your code is run/ displayed.  </a:t>
            </a:r>
          </a:p>
          <a:p>
            <a:r>
              <a:rPr lang="en-IE" sz="2800" dirty="0"/>
              <a:t>It follows the rules of the Computing coordinate system i.e. the top left hand corner is (0,0).</a:t>
            </a:r>
          </a:p>
          <a:p>
            <a:r>
              <a:rPr lang="en-IE" sz="2800" dirty="0"/>
              <a:t>A point (10,20) is 10 pixels to the right of (0,0) and 20 pixels below (0,0).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9" t="9944" r="69486" b="68276"/>
          <a:stretch/>
        </p:blipFill>
        <p:spPr bwMode="auto">
          <a:xfrm>
            <a:off x="8382000" y="3897086"/>
            <a:ext cx="2133600" cy="2503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8506690" y="6330875"/>
            <a:ext cx="2521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b="1" dirty="0">
                <a:solidFill>
                  <a:srgbClr val="FF0000"/>
                </a:solidFill>
              </a:rPr>
              <a:t>Display window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8686801" y="2713112"/>
            <a:ext cx="422563" cy="18588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724900" y="2313002"/>
            <a:ext cx="768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b="1" dirty="0">
                <a:solidFill>
                  <a:srgbClr val="FF0000"/>
                </a:solidFill>
              </a:rPr>
              <a:t>(0,0)</a:t>
            </a:r>
          </a:p>
        </p:txBody>
      </p:sp>
    </p:spTree>
    <p:extLst>
      <p:ext uri="{BB962C8B-B14F-4D97-AF65-F5344CB8AC3E}">
        <p14:creationId xmlns:p14="http://schemas.microsoft.com/office/powerpoint/2010/main" val="4104405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rect</a:t>
            </a:r>
            <a:r>
              <a:rPr lang="en-IE" dirty="0"/>
              <a:t>()</a:t>
            </a:r>
          </a:p>
        </p:txBody>
      </p:sp>
      <p:pic>
        <p:nvPicPr>
          <p:cNvPr id="1026" name="Picture 2" descr="C:\Users\Siobhan\Dropbox\Programming Fundamentals (1)\Semester 1\Sept 2015 specifics\Processing\repo\topic01\book\img\0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842656"/>
            <a:ext cx="6858000" cy="424402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188815" y="6400800"/>
            <a:ext cx="2367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dirty="0"/>
              <a:t>https://processing.org/</a:t>
            </a:r>
          </a:p>
        </p:txBody>
      </p:sp>
    </p:spTree>
    <p:extLst>
      <p:ext uri="{BB962C8B-B14F-4D97-AF65-F5344CB8AC3E}">
        <p14:creationId xmlns:p14="http://schemas.microsoft.com/office/powerpoint/2010/main" val="2974365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rect</a:t>
            </a:r>
            <a:r>
              <a:rPr lang="en-IE" dirty="0"/>
              <a:t>() – Drawing a Rectangle</a:t>
            </a:r>
          </a:p>
        </p:txBody>
      </p:sp>
      <p:pic>
        <p:nvPicPr>
          <p:cNvPr id="4099" name="Picture 3" descr="C:\Users\Siobhan\Dropbox\Programming Fundamentals (1)\Semester 1\Sept 2015 specifics\Processing\repo\topic01\book\img\12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038600"/>
            <a:ext cx="2209800" cy="25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1417639"/>
            <a:ext cx="398145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92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 err="1"/>
              <a:t>rect</a:t>
            </a:r>
            <a:r>
              <a:rPr lang="en-IE" dirty="0"/>
              <a:t>() – Drawing a Square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51" t="10913" r="31618" b="64204"/>
          <a:stretch/>
        </p:blipFill>
        <p:spPr bwMode="auto">
          <a:xfrm>
            <a:off x="2036618" y="1676401"/>
            <a:ext cx="8250382" cy="31769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6" name="Picture 4" descr="C:\Users\Siobhan\Dropbox\Programming Fundamentals (1)\Semester 1\Sept 2015 specifics\Processing\repo\topic01\book\img\1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4191000"/>
            <a:ext cx="2164814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/>
          <p:cNvSpPr/>
          <p:nvPr/>
        </p:nvSpPr>
        <p:spPr>
          <a:xfrm>
            <a:off x="4038600" y="4114800"/>
            <a:ext cx="152400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TextBox 3"/>
          <p:cNvSpPr txBox="1"/>
          <p:nvPr/>
        </p:nvSpPr>
        <p:spPr>
          <a:xfrm>
            <a:off x="2069275" y="5438775"/>
            <a:ext cx="4419600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/>
              <a:t>Note how each line of code has a semi-colon (;) at the end of it.  This is called a </a:t>
            </a:r>
            <a:r>
              <a:rPr lang="en-IE" dirty="0">
                <a:solidFill>
                  <a:srgbClr val="FF0000"/>
                </a:solidFill>
              </a:rPr>
              <a:t>statement terminator</a:t>
            </a:r>
            <a:r>
              <a:rPr lang="en-IE" dirty="0"/>
              <a:t> and must be included.</a:t>
            </a:r>
          </a:p>
        </p:txBody>
      </p:sp>
      <p:cxnSp>
        <p:nvCxnSpPr>
          <p:cNvPr id="7" name="Straight Arrow Connector 6"/>
          <p:cNvCxnSpPr>
            <a:stCxn id="4" idx="0"/>
          </p:cNvCxnSpPr>
          <p:nvPr/>
        </p:nvCxnSpPr>
        <p:spPr>
          <a:xfrm flipH="1" flipV="1">
            <a:off x="4114801" y="4419601"/>
            <a:ext cx="164275" cy="1019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912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rect</a:t>
            </a:r>
            <a:r>
              <a:rPr lang="en-IE" dirty="0"/>
              <a:t>() –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2"/>
            <a:ext cx="8305800" cy="2362199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IE" dirty="0" err="1"/>
              <a:t>rect</a:t>
            </a:r>
            <a:r>
              <a:rPr lang="en-IE" dirty="0"/>
              <a:t>(</a:t>
            </a:r>
            <a:r>
              <a:rPr lang="en-IE" dirty="0">
                <a:solidFill>
                  <a:srgbClr val="FF0000"/>
                </a:solidFill>
              </a:rPr>
              <a:t>x, </a:t>
            </a:r>
            <a:r>
              <a:rPr lang="en-IE" dirty="0">
                <a:solidFill>
                  <a:schemeClr val="tx2">
                    <a:lumMod val="60000"/>
                    <a:lumOff val="40000"/>
                  </a:schemeClr>
                </a:solidFill>
              </a:rPr>
              <a:t>y, </a:t>
            </a:r>
            <a:r>
              <a:rPr lang="en-IE" dirty="0">
                <a:solidFill>
                  <a:srgbClr val="92D050"/>
                </a:solidFill>
              </a:rPr>
              <a:t>w,</a:t>
            </a:r>
            <a:r>
              <a:rPr lang="en-IE" dirty="0"/>
              <a:t> </a:t>
            </a:r>
            <a:r>
              <a:rPr lang="en-IE" dirty="0">
                <a:solidFill>
                  <a:schemeClr val="accent4"/>
                </a:solidFill>
              </a:rPr>
              <a:t>h</a:t>
            </a:r>
            <a:r>
              <a:rPr lang="en-IE" dirty="0"/>
              <a:t>) </a:t>
            </a:r>
          </a:p>
          <a:p>
            <a:pPr marL="400050" lvl="1" indent="0">
              <a:spcBef>
                <a:spcPts val="600"/>
              </a:spcBef>
              <a:buNone/>
            </a:pPr>
            <a:r>
              <a:rPr lang="en-IE" sz="2400" dirty="0">
                <a:solidFill>
                  <a:srgbClr val="FF0000"/>
                </a:solidFill>
              </a:rPr>
              <a:t>x = x-coordinate of the </a:t>
            </a:r>
            <a:r>
              <a:rPr lang="en-IE" sz="2400" u="sng" dirty="0">
                <a:solidFill>
                  <a:srgbClr val="FF0000"/>
                </a:solidFill>
              </a:rPr>
              <a:t>upper left corner</a:t>
            </a:r>
            <a:r>
              <a:rPr lang="en-IE" sz="2400" dirty="0">
                <a:solidFill>
                  <a:srgbClr val="FF0000"/>
                </a:solidFill>
              </a:rPr>
              <a:t> of the rectangle </a:t>
            </a:r>
          </a:p>
          <a:p>
            <a:pPr marL="400050" lvl="1" indent="0">
              <a:spcBef>
                <a:spcPts val="600"/>
              </a:spcBef>
              <a:buNone/>
            </a:pPr>
            <a:r>
              <a:rPr lang="en-IE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y = y-coordinate of the </a:t>
            </a:r>
            <a:r>
              <a:rPr lang="en-IE" sz="2400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upper left corner</a:t>
            </a:r>
            <a:r>
              <a:rPr lang="en-IE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of the rectangle </a:t>
            </a:r>
          </a:p>
          <a:p>
            <a:pPr marL="400050" lvl="1" indent="0">
              <a:spcBef>
                <a:spcPts val="600"/>
              </a:spcBef>
              <a:buNone/>
            </a:pPr>
            <a:r>
              <a:rPr lang="en-IE" sz="2400" dirty="0">
                <a:solidFill>
                  <a:srgbClr val="92D050"/>
                </a:solidFill>
              </a:rPr>
              <a:t>w = width of the rectangle </a:t>
            </a:r>
          </a:p>
          <a:p>
            <a:pPr marL="400050" lvl="1" indent="0">
              <a:spcBef>
                <a:spcPts val="600"/>
              </a:spcBef>
              <a:buNone/>
            </a:pPr>
            <a:r>
              <a:rPr lang="en-IE" sz="2400" dirty="0">
                <a:solidFill>
                  <a:schemeClr val="accent4"/>
                </a:solidFill>
              </a:rPr>
              <a:t>h = height of the rectangle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6200" y="4382632"/>
            <a:ext cx="2590800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To draw a square, the width and height must be the same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4104144"/>
            <a:ext cx="5562600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2400" dirty="0"/>
              <a:t>The </a:t>
            </a:r>
            <a:r>
              <a:rPr lang="en-IE" sz="2400" dirty="0" err="1"/>
              <a:t>rect</a:t>
            </a:r>
            <a:r>
              <a:rPr lang="en-IE" sz="2400" dirty="0"/>
              <a:t> function above defines four </a:t>
            </a:r>
            <a:r>
              <a:rPr lang="en-IE" sz="2400" dirty="0">
                <a:solidFill>
                  <a:srgbClr val="FF0000"/>
                </a:solidFill>
              </a:rPr>
              <a:t>parameters</a:t>
            </a:r>
            <a:r>
              <a:rPr lang="en-IE" sz="2400" dirty="0"/>
              <a:t> i.e. x, y, w, 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2400" dirty="0"/>
              <a:t>When you call </a:t>
            </a:r>
            <a:r>
              <a:rPr lang="en-IE" sz="2400" dirty="0" err="1"/>
              <a:t>rect</a:t>
            </a:r>
            <a:r>
              <a:rPr lang="en-IE" sz="2400" dirty="0"/>
              <a:t>, you are expected to pass four numbers to it.  These actual numbers are called </a:t>
            </a:r>
            <a:r>
              <a:rPr lang="en-IE" sz="2400" dirty="0">
                <a:solidFill>
                  <a:srgbClr val="FF0000"/>
                </a:solidFill>
              </a:rPr>
              <a:t>arguments</a:t>
            </a:r>
            <a:r>
              <a:rPr lang="en-IE" sz="2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2400" dirty="0" err="1"/>
              <a:t>rect</a:t>
            </a:r>
            <a:r>
              <a:rPr lang="en-IE" sz="2400" dirty="0"/>
              <a:t> uses these four numbers to render the rectangle on the display window.</a:t>
            </a:r>
          </a:p>
        </p:txBody>
      </p:sp>
    </p:spTree>
    <p:extLst>
      <p:ext uri="{BB962C8B-B14F-4D97-AF65-F5344CB8AC3E}">
        <p14:creationId xmlns:p14="http://schemas.microsoft.com/office/powerpoint/2010/main" val="2975536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D291171D-9A3E-45B8-42C9-02FA21CF6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019" y="1166019"/>
            <a:ext cx="4525963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</Words>
  <Application>Microsoft Office PowerPoint</Application>
  <PresentationFormat>Widescreen</PresentationFormat>
  <Paragraphs>102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Programming</vt:lpstr>
      <vt:lpstr>What Is Programming?</vt:lpstr>
      <vt:lpstr>Why Learn Programming (fun reasons)?</vt:lpstr>
      <vt:lpstr>Why Learn Programming(serious reasons)?</vt:lpstr>
      <vt:lpstr>Where Is Programming Used?</vt:lpstr>
      <vt:lpstr>How Programming Changes the World</vt:lpstr>
      <vt:lpstr>What You’ll Do Today</vt:lpstr>
      <vt:lpstr>Introduction to Processing</vt:lpstr>
      <vt:lpstr>What is Processing?</vt:lpstr>
      <vt:lpstr>Coordinate System in Computing</vt:lpstr>
      <vt:lpstr>Coordinate System in Computing</vt:lpstr>
      <vt:lpstr>Coordinate System in Computing</vt:lpstr>
      <vt:lpstr>rect()</vt:lpstr>
      <vt:lpstr>rect() – Drawing a Rectangle</vt:lpstr>
      <vt:lpstr>rect() – Drawing a Square</vt:lpstr>
      <vt:lpstr>rect() – Syntax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Colm Dunphy</dc:creator>
  <cp:lastModifiedBy>Siobhan Roche</cp:lastModifiedBy>
  <cp:revision>79</cp:revision>
  <dcterms:created xsi:type="dcterms:W3CDTF">2019-01-10T04:10:15Z</dcterms:created>
  <dcterms:modified xsi:type="dcterms:W3CDTF">2025-12-09T16:55:20Z</dcterms:modified>
</cp:coreProperties>
</file>